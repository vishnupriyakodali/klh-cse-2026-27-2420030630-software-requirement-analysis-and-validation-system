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63" r:id="rId6"/>
    <p:sldId id="264" r:id="rId7"/>
    <p:sldId id="265" r:id="rId8"/>
    <p:sldId id="266" r:id="rId9"/>
    <p:sldId id="269"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C00A2-4D99-0B7F-6403-CB4C1E83A6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8F08D8-F758-C0C2-99D6-FED4C515A9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7C9E81-8FA3-D78E-709D-78BE03C918A4}"/>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5" name="Footer Placeholder 4">
            <a:extLst>
              <a:ext uri="{FF2B5EF4-FFF2-40B4-BE49-F238E27FC236}">
                <a16:creationId xmlns:a16="http://schemas.microsoft.com/office/drawing/2014/main" id="{EBC9EAA0-B8C7-66A4-8FF9-EF991CD7D4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61577-ED42-C977-7109-6B62EC9E8417}"/>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1944176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6CF65-8FE1-0822-04C5-E40AA75E8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4428D5-CCE4-0A02-1E02-3D9798F19F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56F81-2455-7EBA-2FD0-B72DE2B06C74}"/>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5" name="Footer Placeholder 4">
            <a:extLst>
              <a:ext uri="{FF2B5EF4-FFF2-40B4-BE49-F238E27FC236}">
                <a16:creationId xmlns:a16="http://schemas.microsoft.com/office/drawing/2014/main" id="{06421F41-2A75-2E31-6A17-1C6F6E64F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0A3A5-87EB-4A77-F087-D064798479B7}"/>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3797160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73ED-2CA6-05D2-EAA1-5DEAD548DC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DA2B7A-DE2E-929C-81BE-3ED826B526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A3A363-54DA-0A93-5BAD-CB7B6CCAB0A7}"/>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5" name="Footer Placeholder 4">
            <a:extLst>
              <a:ext uri="{FF2B5EF4-FFF2-40B4-BE49-F238E27FC236}">
                <a16:creationId xmlns:a16="http://schemas.microsoft.com/office/drawing/2014/main" id="{9C3F3BAE-128C-2D7B-9B46-58C2085B49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5C922-CB53-A96D-C85A-FA86E47EB207}"/>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51459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23D81-7388-6B0D-8439-B0FCD68A3B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521BB7-76B2-549B-8A60-80A65225EE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8BC5EE-4E36-E668-4BBC-6E4297B1BE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53B7B8-7102-30A6-9D8B-89EE09C2B3C0}"/>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6" name="Footer Placeholder 5">
            <a:extLst>
              <a:ext uri="{FF2B5EF4-FFF2-40B4-BE49-F238E27FC236}">
                <a16:creationId xmlns:a16="http://schemas.microsoft.com/office/drawing/2014/main" id="{C4AC9C69-1930-6A9B-DCA9-8803F58272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9E3C44-6454-E489-E7D4-4CF31B5B9EAC}"/>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2932672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0B09-1E3F-3525-2519-4897CE3066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7C7D6F-E91B-1234-CCCE-98DDDD7C09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BAB584-7A13-724F-B7D9-56229682B1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D217ED-5BBF-7E17-1C6E-D3F0CE4754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4F16F7-AB4A-957E-042D-CD72754AD2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2695F4-E632-2574-752F-27FD4DB58E16}"/>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8" name="Footer Placeholder 7">
            <a:extLst>
              <a:ext uri="{FF2B5EF4-FFF2-40B4-BE49-F238E27FC236}">
                <a16:creationId xmlns:a16="http://schemas.microsoft.com/office/drawing/2014/main" id="{26225AD4-39FE-56DD-C9D6-BAA9A5542B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FFBE89-8ECE-17A8-65CF-AA7EB4288294}"/>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2475110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1C827-43DF-CA09-AD7D-643FC1C493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26DF09-A6A1-9095-4193-D270196226DE}"/>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4" name="Footer Placeholder 3">
            <a:extLst>
              <a:ext uri="{FF2B5EF4-FFF2-40B4-BE49-F238E27FC236}">
                <a16:creationId xmlns:a16="http://schemas.microsoft.com/office/drawing/2014/main" id="{A3E8FB38-C50D-C7E1-9F56-B3F8C77F50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486DB7-2543-75C8-120E-5F8CD7BDE1E7}"/>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3863919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3DF842-3B18-EF02-0092-513A680B2968}"/>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3" name="Footer Placeholder 2">
            <a:extLst>
              <a:ext uri="{FF2B5EF4-FFF2-40B4-BE49-F238E27FC236}">
                <a16:creationId xmlns:a16="http://schemas.microsoft.com/office/drawing/2014/main" id="{6B20B524-42FE-7077-72B6-9913DFF759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EC7EC9-422A-7CD5-7436-6682F3F5B013}"/>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3059267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A1714-15EE-1F28-8477-00916E52DE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4A4422-68C7-46EB-5B14-EBC4F7F8D0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FAC2C3-5BAC-8193-BE7D-637DD73CD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3E69EB-3C81-B5BA-12E1-1CD2AFAE25B6}"/>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6" name="Footer Placeholder 5">
            <a:extLst>
              <a:ext uri="{FF2B5EF4-FFF2-40B4-BE49-F238E27FC236}">
                <a16:creationId xmlns:a16="http://schemas.microsoft.com/office/drawing/2014/main" id="{1A651F2F-024A-BA54-5C3D-F583B6118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9F3EBD-FAE0-CC8F-4D7E-637EE0D1E1E3}"/>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2929265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F78D-5466-2C94-A3C5-B22E521C6E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65417C-9085-3D84-E3C5-D394DAB2A9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BF2EAB-CB3F-4B43-351D-77895C883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44330-A9E4-F8ED-520F-6F0E2714BE1E}"/>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6" name="Footer Placeholder 5">
            <a:extLst>
              <a:ext uri="{FF2B5EF4-FFF2-40B4-BE49-F238E27FC236}">
                <a16:creationId xmlns:a16="http://schemas.microsoft.com/office/drawing/2014/main" id="{4E2532D4-BD77-1297-8B07-80052A334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DEC722-C022-723B-53DE-121003E890DC}"/>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1756919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2FF9B-1F4C-3DBE-CAD8-0E9BFB06BB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A21F57-7232-4F94-831A-17AEF362C8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203C13-EC18-6820-DE15-1B17412D4FEF}"/>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5" name="Footer Placeholder 4">
            <a:extLst>
              <a:ext uri="{FF2B5EF4-FFF2-40B4-BE49-F238E27FC236}">
                <a16:creationId xmlns:a16="http://schemas.microsoft.com/office/drawing/2014/main" id="{F8132858-FCEA-339E-0F75-59E27B8D9B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BF57AA-8480-CBAC-C7D9-9ED5A618E117}"/>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320442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0D96FA-2C1C-57B3-FE36-E9EE795309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46EFB1-572F-2068-CE5F-B062FF246F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55C9F-B956-DF04-E116-D3A050FEE0FF}"/>
              </a:ext>
            </a:extLst>
          </p:cNvPr>
          <p:cNvSpPr>
            <a:spLocks noGrp="1"/>
          </p:cNvSpPr>
          <p:nvPr>
            <p:ph type="dt" sz="half" idx="10"/>
          </p:nvPr>
        </p:nvSpPr>
        <p:spPr/>
        <p:txBody>
          <a:bodyPr/>
          <a:lstStyle/>
          <a:p>
            <a:fld id="{FF796689-AEAF-4221-99E3-94240EE79ED3}" type="datetimeFigureOut">
              <a:rPr lang="en-US" smtClean="0"/>
              <a:t>9/10/2026</a:t>
            </a:fld>
            <a:endParaRPr lang="en-US"/>
          </a:p>
        </p:txBody>
      </p:sp>
      <p:sp>
        <p:nvSpPr>
          <p:cNvPr id="5" name="Footer Placeholder 4">
            <a:extLst>
              <a:ext uri="{FF2B5EF4-FFF2-40B4-BE49-F238E27FC236}">
                <a16:creationId xmlns:a16="http://schemas.microsoft.com/office/drawing/2014/main" id="{A389A135-5444-5885-88DE-FEFAABC8C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9171C-81CE-18E8-DBA8-D5303C3C2218}"/>
              </a:ext>
            </a:extLst>
          </p:cNvPr>
          <p:cNvSpPr>
            <a:spLocks noGrp="1"/>
          </p:cNvSpPr>
          <p:nvPr>
            <p:ph type="sldNum" sz="quarter" idx="12"/>
          </p:nvPr>
        </p:nvSpPr>
        <p:spPr/>
        <p:txBody>
          <a:bodyPr/>
          <a:lstStyle/>
          <a:p>
            <a:fld id="{53AF722D-C444-4571-9B92-F6562EE84D60}" type="slidenum">
              <a:rPr lang="en-US" smtClean="0"/>
              <a:t>‹#›</a:t>
            </a:fld>
            <a:endParaRPr lang="en-US"/>
          </a:p>
        </p:txBody>
      </p:sp>
    </p:spTree>
    <p:extLst>
      <p:ext uri="{BB962C8B-B14F-4D97-AF65-F5344CB8AC3E}">
        <p14:creationId xmlns:p14="http://schemas.microsoft.com/office/powerpoint/2010/main" val="3474365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6DD357-1D90-606E-50F2-87C30514B8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A14F57-C952-521E-4BEE-289A6BDE0F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5919F9-D631-9C8A-7F73-DF96018B0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796689-AEAF-4221-99E3-94240EE79ED3}" type="datetimeFigureOut">
              <a:rPr lang="en-US" smtClean="0"/>
              <a:t>9/10/2026</a:t>
            </a:fld>
            <a:endParaRPr lang="en-US"/>
          </a:p>
        </p:txBody>
      </p:sp>
      <p:sp>
        <p:nvSpPr>
          <p:cNvPr id="5" name="Footer Placeholder 4">
            <a:extLst>
              <a:ext uri="{FF2B5EF4-FFF2-40B4-BE49-F238E27FC236}">
                <a16:creationId xmlns:a16="http://schemas.microsoft.com/office/drawing/2014/main" id="{EE07C5AE-14D4-93C1-058E-06793A2094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608641-8459-9BA4-662E-88B740F2F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AF722D-C444-4571-9B92-F6562EE84D60}" type="slidenum">
              <a:rPr lang="en-US" smtClean="0"/>
              <a:t>‹#›</a:t>
            </a:fld>
            <a:endParaRPr lang="en-US"/>
          </a:p>
        </p:txBody>
      </p:sp>
    </p:spTree>
    <p:extLst>
      <p:ext uri="{BB962C8B-B14F-4D97-AF65-F5344CB8AC3E}">
        <p14:creationId xmlns:p14="http://schemas.microsoft.com/office/powerpoint/2010/main" val="1475026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85E238-33FB-827F-80F8-75F5DB0E8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8" name="TextBox 7">
            <a:extLst>
              <a:ext uri="{FF2B5EF4-FFF2-40B4-BE49-F238E27FC236}">
                <a16:creationId xmlns:a16="http://schemas.microsoft.com/office/drawing/2014/main" id="{6BBB1816-6FAF-ED5A-13BA-5A6E4F2AAD00}"/>
              </a:ext>
            </a:extLst>
          </p:cNvPr>
          <p:cNvSpPr txBox="1"/>
          <p:nvPr/>
        </p:nvSpPr>
        <p:spPr>
          <a:xfrm>
            <a:off x="1332271" y="1364201"/>
            <a:ext cx="9527458" cy="1200329"/>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AI-Powered Software Requirements Analysis </a:t>
            </a:r>
          </a:p>
          <a:p>
            <a:pPr algn="ctr"/>
            <a:r>
              <a:rPr lang="en-US" sz="3600" b="1" dirty="0">
                <a:latin typeface="Times New Roman" panose="02020603050405020304" pitchFamily="18" charset="0"/>
                <a:cs typeface="Times New Roman" panose="02020603050405020304" pitchFamily="18" charset="0"/>
              </a:rPr>
              <a:t>and Validation System</a:t>
            </a:r>
          </a:p>
        </p:txBody>
      </p:sp>
      <p:sp>
        <p:nvSpPr>
          <p:cNvPr id="9" name="TextBox 8">
            <a:extLst>
              <a:ext uri="{FF2B5EF4-FFF2-40B4-BE49-F238E27FC236}">
                <a16:creationId xmlns:a16="http://schemas.microsoft.com/office/drawing/2014/main" id="{CD2911C1-BE8B-EEE5-DD08-FDAC5B04EA3C}"/>
              </a:ext>
            </a:extLst>
          </p:cNvPr>
          <p:cNvSpPr txBox="1"/>
          <p:nvPr/>
        </p:nvSpPr>
        <p:spPr>
          <a:xfrm>
            <a:off x="816077" y="4149213"/>
            <a:ext cx="4031226" cy="203527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Batch No: 06</a:t>
            </a:r>
          </a:p>
          <a:p>
            <a:r>
              <a:rPr lang="en-US" b="1" dirty="0">
                <a:latin typeface="Times New Roman" panose="02020603050405020304" pitchFamily="18" charset="0"/>
                <a:cs typeface="Times New Roman" panose="02020603050405020304" pitchFamily="18" charset="0"/>
              </a:rPr>
              <a:t>Team Members: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Pathi Sharmila-2420030042</a:t>
            </a:r>
          </a:p>
          <a:p>
            <a:r>
              <a:rPr lang="en-US" dirty="0">
                <a:latin typeface="Times New Roman" panose="02020603050405020304" pitchFamily="18" charset="0"/>
                <a:cs typeface="Times New Roman" panose="02020603050405020304" pitchFamily="18" charset="0"/>
              </a:rPr>
              <a:t>Lakshman Angara-2420030067</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Sanivarapu Sadhana - 2420030225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Vishnu Priya Kodali-2420030630</a:t>
            </a:r>
          </a:p>
          <a:p>
            <a:endParaRPr lang="en-US" dirty="0"/>
          </a:p>
        </p:txBody>
      </p:sp>
      <p:sp>
        <p:nvSpPr>
          <p:cNvPr id="10" name="TextBox 9">
            <a:extLst>
              <a:ext uri="{FF2B5EF4-FFF2-40B4-BE49-F238E27FC236}">
                <a16:creationId xmlns:a16="http://schemas.microsoft.com/office/drawing/2014/main" id="{09C02421-7151-CA9A-50C4-5FF07F113E88}"/>
              </a:ext>
            </a:extLst>
          </p:cNvPr>
          <p:cNvSpPr txBox="1"/>
          <p:nvPr/>
        </p:nvSpPr>
        <p:spPr>
          <a:xfrm>
            <a:off x="3121741" y="2708787"/>
            <a:ext cx="5476568" cy="1015663"/>
          </a:xfrm>
          <a:prstGeom prst="rect">
            <a:avLst/>
          </a:prstGeom>
          <a:noFill/>
        </p:spPr>
        <p:txBody>
          <a:bodyPr wrap="square" rtlCol="0">
            <a:spAutoFit/>
          </a:bodyPr>
          <a:lstStyle/>
          <a:p>
            <a:pPr algn="ctr"/>
            <a:r>
              <a:rPr lang="en-US" sz="2000" dirty="0">
                <a:solidFill>
                  <a:srgbClr val="FF0000"/>
                </a:solidFill>
                <a:latin typeface="Times New Roman" panose="02020603050405020304" pitchFamily="18" charset="0"/>
                <a:cs typeface="Times New Roman" panose="02020603050405020304" pitchFamily="18" charset="0"/>
              </a:rPr>
              <a:t>Under the guidance</a:t>
            </a:r>
          </a:p>
          <a:p>
            <a:pPr algn="ctr"/>
            <a:r>
              <a:rPr lang="en-US" sz="2000" dirty="0">
                <a:solidFill>
                  <a:srgbClr val="FF0000"/>
                </a:solidFill>
                <a:latin typeface="Times New Roman" panose="02020603050405020304" pitchFamily="18" charset="0"/>
                <a:cs typeface="Times New Roman" panose="02020603050405020304" pitchFamily="18" charset="0"/>
              </a:rPr>
              <a:t>Of</a:t>
            </a:r>
          </a:p>
          <a:p>
            <a:pPr algn="ctr"/>
            <a:r>
              <a:rPr lang="en-US" sz="2000" b="1" dirty="0">
                <a:latin typeface="Times New Roman" panose="02020603050405020304" pitchFamily="18" charset="0"/>
                <a:cs typeface="Times New Roman" panose="02020603050405020304" pitchFamily="18" charset="0"/>
              </a:rPr>
              <a:t>Swapna Reddy</a:t>
            </a:r>
          </a:p>
        </p:txBody>
      </p:sp>
    </p:spTree>
    <p:extLst>
      <p:ext uri="{BB962C8B-B14F-4D97-AF65-F5344CB8AC3E}">
        <p14:creationId xmlns:p14="http://schemas.microsoft.com/office/powerpoint/2010/main" val="3822994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ED407-A239-4EA9-6E44-9C15B9C5CB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B6DC0B-163D-E235-7112-CE992DD050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F7EA2329-FAA9-EB2D-DE32-D57C133F8F6D}"/>
              </a:ext>
            </a:extLst>
          </p:cNvPr>
          <p:cNvSpPr txBox="1"/>
          <p:nvPr/>
        </p:nvSpPr>
        <p:spPr>
          <a:xfrm>
            <a:off x="2959510" y="629265"/>
            <a:ext cx="6282813" cy="1231106"/>
          </a:xfrm>
          <a:prstGeom prst="rect">
            <a:avLst/>
          </a:prstGeom>
          <a:noFill/>
        </p:spPr>
        <p:txBody>
          <a:bodyPr wrap="square" rtlCol="0">
            <a:spAutoFit/>
          </a:bodyPr>
          <a:lstStyle/>
          <a:p>
            <a:pPr algn="ctr"/>
            <a:endParaRPr lang="en-US" sz="2800" b="1"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Problem Statement</a:t>
            </a:r>
            <a:endParaRPr lang="en-US" sz="2800" dirty="0">
              <a:latin typeface="Times New Roman" panose="02020603050405020304" pitchFamily="18" charset="0"/>
              <a:cs typeface="Times New Roman" panose="02020603050405020304" pitchFamily="18" charset="0"/>
            </a:endParaRPr>
          </a:p>
          <a:p>
            <a:endParaRPr lang="en-US" dirty="0"/>
          </a:p>
        </p:txBody>
      </p:sp>
      <p:sp>
        <p:nvSpPr>
          <p:cNvPr id="6" name="TextBox 5">
            <a:extLst>
              <a:ext uri="{FF2B5EF4-FFF2-40B4-BE49-F238E27FC236}">
                <a16:creationId xmlns:a16="http://schemas.microsoft.com/office/drawing/2014/main" id="{720FF11C-B0B9-F871-A94B-7F5791018EFB}"/>
              </a:ext>
            </a:extLst>
          </p:cNvPr>
          <p:cNvSpPr txBox="1"/>
          <p:nvPr/>
        </p:nvSpPr>
        <p:spPr>
          <a:xfrm>
            <a:off x="1209368" y="1759973"/>
            <a:ext cx="9812593" cy="317009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Software projects often experience failures and delays due to unclear, incomplete, inconsistent, or misunderstood requirements during the early stages of development. Existing requirement management approaches mainly rely on manual reviews, which are time-consuming and may not identify requirement issues effectively at an early stage. These problems can result in rework, communication gaps, project delays, increased development costs, and poor software quality. Therefore, there is a need for an intelligent and automated approach that can analyze requirements, detect issues such as ambiguity, inconsistency, incompleteness, and duplication, and provide useful suggestions to improve requirement quality before development begins.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9251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293E0-1F8A-CE84-7C9D-EB46429883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5C12EBC-85F5-2089-5A10-E2B54C6F29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4FE76023-44E3-16D7-206E-27B52A966C96}"/>
              </a:ext>
            </a:extLst>
          </p:cNvPr>
          <p:cNvSpPr txBox="1"/>
          <p:nvPr/>
        </p:nvSpPr>
        <p:spPr>
          <a:xfrm>
            <a:off x="2959510" y="629265"/>
            <a:ext cx="6282813" cy="954107"/>
          </a:xfrm>
          <a:prstGeom prst="rect">
            <a:avLst/>
          </a:prstGeom>
          <a:noFill/>
        </p:spPr>
        <p:txBody>
          <a:bodyPr wrap="square" rtlCol="0">
            <a:spAutoFit/>
          </a:bodyPr>
          <a:lstStyle/>
          <a:p>
            <a:pPr algn="ctr"/>
            <a:endParaRPr lang="en-US" sz="2800" b="1"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Objectives</a:t>
            </a:r>
          </a:p>
        </p:txBody>
      </p:sp>
      <p:sp>
        <p:nvSpPr>
          <p:cNvPr id="6" name="TextBox 5">
            <a:extLst>
              <a:ext uri="{FF2B5EF4-FFF2-40B4-BE49-F238E27FC236}">
                <a16:creationId xmlns:a16="http://schemas.microsoft.com/office/drawing/2014/main" id="{9119A235-807E-988D-7D57-08B4A3106E2A}"/>
              </a:ext>
            </a:extLst>
          </p:cNvPr>
          <p:cNvSpPr txBox="1"/>
          <p:nvPr/>
        </p:nvSpPr>
        <p:spPr>
          <a:xfrm>
            <a:off x="1209368" y="1759973"/>
            <a:ext cx="9812593" cy="4555093"/>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US" sz="2000" b="1" dirty="0"/>
              <a:t>To analyze</a:t>
            </a:r>
            <a:r>
              <a:rPr lang="en-US" sz="2000" dirty="0"/>
              <a:t> software requirements using AI to identify potential issues at an early stage. </a:t>
            </a:r>
          </a:p>
          <a:p>
            <a:pPr marL="342900" lvl="0" indent="-342900">
              <a:lnSpc>
                <a:spcPct val="150000"/>
              </a:lnSpc>
              <a:buFont typeface="Arial" panose="020B0604020202020204" pitchFamily="34" charset="0"/>
              <a:buChar char="•"/>
            </a:pPr>
            <a:r>
              <a:rPr lang="en-US" sz="2000" b="1" dirty="0"/>
              <a:t>To detect</a:t>
            </a:r>
            <a:r>
              <a:rPr lang="en-US" sz="2000" dirty="0"/>
              <a:t> ambiguous, incomplete, duplicate, and conflicting requirements automatically. </a:t>
            </a:r>
          </a:p>
          <a:p>
            <a:pPr marL="342900" lvl="0" indent="-342900">
              <a:lnSpc>
                <a:spcPct val="150000"/>
              </a:lnSpc>
              <a:buFont typeface="Arial" panose="020B0604020202020204" pitchFamily="34" charset="0"/>
              <a:buChar char="•"/>
            </a:pPr>
            <a:r>
              <a:rPr lang="en-US" sz="2000" b="1" dirty="0"/>
              <a:t>To improve</a:t>
            </a:r>
            <a:r>
              <a:rPr lang="en-US" sz="2000" dirty="0"/>
              <a:t> unclear or poorly defined requirements using AI-generated suggestions. </a:t>
            </a:r>
          </a:p>
          <a:p>
            <a:pPr marL="342900" lvl="0" indent="-342900">
              <a:lnSpc>
                <a:spcPct val="150000"/>
              </a:lnSpc>
              <a:buFont typeface="Arial" panose="020B0604020202020204" pitchFamily="34" charset="0"/>
              <a:buChar char="•"/>
            </a:pPr>
            <a:r>
              <a:rPr lang="en-US" sz="2000" b="1" dirty="0"/>
              <a:t>To assess</a:t>
            </a:r>
            <a:r>
              <a:rPr lang="en-US" sz="2000" dirty="0"/>
              <a:t> requirement quality and identify potential risks that may affect software development. </a:t>
            </a:r>
          </a:p>
          <a:p>
            <a:pPr marL="342900" lvl="0" indent="-342900">
              <a:lnSpc>
                <a:spcPct val="150000"/>
              </a:lnSpc>
              <a:buFont typeface="Arial" panose="020B0604020202020204" pitchFamily="34" charset="0"/>
              <a:buChar char="•"/>
            </a:pPr>
            <a:r>
              <a:rPr lang="en-US" sz="2000" b="1" dirty="0"/>
              <a:t>To generate</a:t>
            </a:r>
            <a:r>
              <a:rPr lang="en-US" sz="2000" dirty="0"/>
              <a:t> structured user stories and acceptance criteria automatically from analyzed requirements. </a:t>
            </a:r>
          </a:p>
          <a:p>
            <a:pPr marL="342900" lvl="0" indent="-342900">
              <a:lnSpc>
                <a:spcPct val="150000"/>
              </a:lnSpc>
              <a:buFont typeface="Arial" panose="020B0604020202020204" pitchFamily="34" charset="0"/>
              <a:buChar char="•"/>
            </a:pPr>
            <a:r>
              <a:rPr lang="en-US" sz="2000" b="1" dirty="0"/>
              <a:t>To provide</a:t>
            </a:r>
            <a:r>
              <a:rPr lang="en-US" sz="2000" dirty="0"/>
              <a:t> an interactive and user-friendly dashboard for visualizing requirement issues, quality scores, risks, and analysis results. </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802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E9A9-FBEF-0429-8D29-643E5FF4A3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C0790E-FD1B-914D-F8AD-F97D166393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6A24C8D3-A066-301A-20C5-F1E647732044}"/>
              </a:ext>
            </a:extLst>
          </p:cNvPr>
          <p:cNvSpPr txBox="1"/>
          <p:nvPr/>
        </p:nvSpPr>
        <p:spPr>
          <a:xfrm>
            <a:off x="2959510" y="629265"/>
            <a:ext cx="6282813" cy="954107"/>
          </a:xfrm>
          <a:prstGeom prst="rect">
            <a:avLst/>
          </a:prstGeom>
          <a:noFill/>
        </p:spPr>
        <p:txBody>
          <a:bodyPr wrap="square" rtlCol="0">
            <a:spAutoFit/>
          </a:bodyPr>
          <a:lstStyle/>
          <a:p>
            <a:pPr algn="ctr"/>
            <a:endParaRPr lang="en-US" sz="2800" b="1"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Existing Systems</a:t>
            </a:r>
          </a:p>
        </p:txBody>
      </p:sp>
      <p:sp>
        <p:nvSpPr>
          <p:cNvPr id="6" name="TextBox 5">
            <a:extLst>
              <a:ext uri="{FF2B5EF4-FFF2-40B4-BE49-F238E27FC236}">
                <a16:creationId xmlns:a16="http://schemas.microsoft.com/office/drawing/2014/main" id="{50918D9F-8EE6-1448-18D1-88E5264512D9}"/>
              </a:ext>
            </a:extLst>
          </p:cNvPr>
          <p:cNvSpPr txBox="1"/>
          <p:nvPr/>
        </p:nvSpPr>
        <p:spPr>
          <a:xfrm>
            <a:off x="1209369" y="1759973"/>
            <a:ext cx="9684774" cy="5062924"/>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Current Method:</a:t>
            </a:r>
            <a:endParaRPr lang="en-US" sz="2000" dirty="0">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Requirements are mainly reviewed manually.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SRS documents are checked by developers, analysts, or testers.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Requirement quality depends heavily on human expertise.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Issues may be discovered during later development stages. </a:t>
            </a:r>
          </a:p>
          <a:p>
            <a:pPr algn="just">
              <a:lnSpc>
                <a:spcPct val="150000"/>
              </a:lnSpc>
            </a:pPr>
            <a:r>
              <a:rPr lang="en-US" sz="2000" b="1" dirty="0">
                <a:latin typeface="Times New Roman" panose="02020603050405020304" pitchFamily="18" charset="0"/>
                <a:cs typeface="Times New Roman" panose="02020603050405020304" pitchFamily="18" charset="0"/>
              </a:rPr>
              <a:t>Limitations:</a:t>
            </a:r>
            <a:endParaRPr lang="en-US" sz="2000" dirty="0">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Time-consuming manual analysis.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Difficult to identify all ambiguities and inconsistencies.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possibility of human error.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Late detection can increase development effort.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intelligent assistance.</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7391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349D5-272E-DF57-3094-D79D773BD4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8396A24-E2C3-6F52-F53E-5CEBDAE5B0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EA109295-DD9D-114F-897C-E4FCEA2DCA6E}"/>
              </a:ext>
            </a:extLst>
          </p:cNvPr>
          <p:cNvSpPr txBox="1"/>
          <p:nvPr/>
        </p:nvSpPr>
        <p:spPr>
          <a:xfrm>
            <a:off x="2959510" y="629265"/>
            <a:ext cx="6282813" cy="954107"/>
          </a:xfrm>
          <a:prstGeom prst="rect">
            <a:avLst/>
          </a:prstGeom>
          <a:noFill/>
        </p:spPr>
        <p:txBody>
          <a:bodyPr wrap="square" rtlCol="0">
            <a:spAutoFit/>
          </a:bodyPr>
          <a:lstStyle/>
          <a:p>
            <a:pPr algn="ctr"/>
            <a:endParaRPr lang="en-US" sz="2800" b="1"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Proposed System</a:t>
            </a:r>
          </a:p>
        </p:txBody>
      </p:sp>
      <p:sp>
        <p:nvSpPr>
          <p:cNvPr id="6" name="TextBox 5">
            <a:extLst>
              <a:ext uri="{FF2B5EF4-FFF2-40B4-BE49-F238E27FC236}">
                <a16:creationId xmlns:a16="http://schemas.microsoft.com/office/drawing/2014/main" id="{75807003-ACAE-A17A-7567-F445CF453D08}"/>
              </a:ext>
            </a:extLst>
          </p:cNvPr>
          <p:cNvSpPr txBox="1"/>
          <p:nvPr/>
        </p:nvSpPr>
        <p:spPr>
          <a:xfrm>
            <a:off x="678426" y="1759974"/>
            <a:ext cx="10215717" cy="4555093"/>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Spec Mind AI</a:t>
            </a:r>
            <a:r>
              <a:rPr lang="en-US" sz="2000" dirty="0">
                <a:latin typeface="Times New Roman" panose="02020603050405020304" pitchFamily="18" charset="0"/>
                <a:cs typeface="Times New Roman" panose="02020603050405020304" pitchFamily="18" charset="0"/>
              </a:rPr>
              <a:t> uses Generative AI to analyze software requirements at an early stage.</a:t>
            </a:r>
          </a:p>
          <a:p>
            <a:pPr>
              <a:lnSpc>
                <a:spcPct val="150000"/>
              </a:lnSpc>
            </a:pPr>
            <a:r>
              <a:rPr lang="en-US" sz="2000" dirty="0">
                <a:latin typeface="Times New Roman" panose="02020603050405020304" pitchFamily="18" charset="0"/>
                <a:cs typeface="Times New Roman" panose="02020603050405020304" pitchFamily="18" charset="0"/>
              </a:rPr>
              <a:t>The system can:</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Accept requirements through text or SRS documents.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requirement quality using AI.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ambiguity, incompleteness, duplication, and conflicts.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Suggest improved requirements.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 user stories and acceptance criteria. </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 requirement quality and risk insights. </a:t>
            </a:r>
          </a:p>
          <a:p>
            <a:pPr>
              <a:lnSpc>
                <a:spcPct val="150000"/>
              </a:lnSpc>
            </a:pPr>
            <a:r>
              <a:rPr lang="en-US" sz="2000" b="1" dirty="0">
                <a:latin typeface="Times New Roman" panose="02020603050405020304" pitchFamily="18" charset="0"/>
                <a:cs typeface="Times New Roman" panose="02020603050405020304" pitchFamily="18" charset="0"/>
              </a:rPr>
              <a:t>Benefit:</a:t>
            </a:r>
            <a:r>
              <a:rPr lang="en-US" sz="2000" dirty="0">
                <a:latin typeface="Times New Roman" panose="02020603050405020304" pitchFamily="18" charset="0"/>
                <a:cs typeface="Times New Roman" panose="02020603050405020304" pitchFamily="18" charset="0"/>
              </a:rPr>
              <a:t> Problems can be identified and corrected before actual software development begins.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3948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52A0-5B2E-3AF8-FF74-9E1073D9AA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DC2743-50A4-C71B-A689-DB8E75996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3592730C-BBB8-537E-7E05-3274AD7A68A1}"/>
              </a:ext>
            </a:extLst>
          </p:cNvPr>
          <p:cNvSpPr txBox="1"/>
          <p:nvPr/>
        </p:nvSpPr>
        <p:spPr>
          <a:xfrm>
            <a:off x="2959510" y="629265"/>
            <a:ext cx="6282813"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Technology Used</a:t>
            </a:r>
          </a:p>
        </p:txBody>
      </p:sp>
      <p:sp>
        <p:nvSpPr>
          <p:cNvPr id="6" name="TextBox 5">
            <a:extLst>
              <a:ext uri="{FF2B5EF4-FFF2-40B4-BE49-F238E27FC236}">
                <a16:creationId xmlns:a16="http://schemas.microsoft.com/office/drawing/2014/main" id="{7EE5FCBF-B383-AB47-922A-36FF221FD298}"/>
              </a:ext>
            </a:extLst>
          </p:cNvPr>
          <p:cNvSpPr txBox="1"/>
          <p:nvPr/>
        </p:nvSpPr>
        <p:spPr>
          <a:xfrm>
            <a:off x="845574" y="1364201"/>
            <a:ext cx="10736826" cy="5478423"/>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US" sz="2000" b="1" dirty="0"/>
              <a:t>Python</a:t>
            </a:r>
            <a:r>
              <a:rPr lang="en-US" sz="2000" dirty="0"/>
              <a:t> – Used for the core application logic, requirement analysis, and processing. </a:t>
            </a:r>
          </a:p>
          <a:p>
            <a:pPr marL="342900" lvl="0" indent="-342900">
              <a:lnSpc>
                <a:spcPct val="150000"/>
              </a:lnSpc>
              <a:buFont typeface="Arial" panose="020B0604020202020204" pitchFamily="34" charset="0"/>
              <a:buChar char="•"/>
            </a:pPr>
            <a:r>
              <a:rPr lang="en-US" sz="2000" b="1" dirty="0"/>
              <a:t>Flask</a:t>
            </a:r>
            <a:r>
              <a:rPr lang="en-US" sz="2000" dirty="0"/>
              <a:t> – Provides the backend framework and connects the user interface with the analysis modules. </a:t>
            </a:r>
          </a:p>
          <a:p>
            <a:pPr marL="342900" lvl="0" indent="-342900">
              <a:lnSpc>
                <a:spcPct val="150000"/>
              </a:lnSpc>
              <a:buFont typeface="Arial" panose="020B0604020202020204" pitchFamily="34" charset="0"/>
              <a:buChar char="•"/>
            </a:pPr>
            <a:r>
              <a:rPr lang="en-US" sz="2000" b="1" dirty="0"/>
              <a:t>HTML5 &amp; CSS3</a:t>
            </a:r>
            <a:r>
              <a:rPr lang="en-US" sz="2000" dirty="0"/>
              <a:t> – Used to structure and design the web interface. </a:t>
            </a:r>
          </a:p>
          <a:p>
            <a:pPr marL="342900" lvl="0" indent="-342900">
              <a:lnSpc>
                <a:spcPct val="150000"/>
              </a:lnSpc>
              <a:buFont typeface="Arial" panose="020B0604020202020204" pitchFamily="34" charset="0"/>
              <a:buChar char="•"/>
            </a:pPr>
            <a:r>
              <a:rPr lang="en-US" sz="2000" b="1" dirty="0"/>
              <a:t>Bootstrap 5</a:t>
            </a:r>
            <a:r>
              <a:rPr lang="en-US" sz="2000" dirty="0"/>
              <a:t> – Provides responsive and user-friendly UI components. </a:t>
            </a:r>
          </a:p>
          <a:p>
            <a:pPr marL="342900" lvl="0" indent="-342900">
              <a:lnSpc>
                <a:spcPct val="150000"/>
              </a:lnSpc>
              <a:buFont typeface="Arial" panose="020B0604020202020204" pitchFamily="34" charset="0"/>
              <a:buChar char="•"/>
            </a:pPr>
            <a:r>
              <a:rPr lang="en-US" sz="2000" b="1" dirty="0"/>
              <a:t>Google Gemini API</a:t>
            </a:r>
            <a:r>
              <a:rPr lang="en-US" sz="2000" dirty="0"/>
              <a:t> – Used for AI-based requirement analysis, issue identification, explanations, and improvement suggestions. </a:t>
            </a:r>
          </a:p>
          <a:p>
            <a:pPr marL="342900" lvl="0" indent="-342900">
              <a:lnSpc>
                <a:spcPct val="150000"/>
              </a:lnSpc>
              <a:buFont typeface="Arial" panose="020B0604020202020204" pitchFamily="34" charset="0"/>
              <a:buChar char="•"/>
            </a:pPr>
            <a:r>
              <a:rPr lang="en-US" sz="2000" b="1" dirty="0"/>
              <a:t>MySQL</a:t>
            </a:r>
            <a:r>
              <a:rPr lang="en-US" sz="2000" dirty="0"/>
              <a:t> – Stores requirements, analysis results, and project-related data. </a:t>
            </a:r>
          </a:p>
          <a:p>
            <a:pPr marL="342900" lvl="0" indent="-342900">
              <a:lnSpc>
                <a:spcPct val="150000"/>
              </a:lnSpc>
              <a:buFont typeface="Arial" panose="020B0604020202020204" pitchFamily="34" charset="0"/>
              <a:buChar char="•"/>
            </a:pPr>
            <a:r>
              <a:rPr lang="en-US" sz="2000" b="1" dirty="0"/>
              <a:t>PyMuPDF</a:t>
            </a:r>
            <a:r>
              <a:rPr lang="en-US" sz="2000" dirty="0"/>
              <a:t> – Extracts and processes text from requirement documents in PDF format. </a:t>
            </a:r>
          </a:p>
          <a:p>
            <a:pPr marL="342900" lvl="0" indent="-342900">
              <a:lnSpc>
                <a:spcPct val="150000"/>
              </a:lnSpc>
              <a:buFont typeface="Arial" panose="020B0604020202020204" pitchFamily="34" charset="0"/>
              <a:buChar char="•"/>
            </a:pPr>
            <a:r>
              <a:rPr lang="en-US" sz="2000" b="1" dirty="0"/>
              <a:t>Chart.js</a:t>
            </a:r>
            <a:r>
              <a:rPr lang="en-US" sz="2000" dirty="0"/>
              <a:t> – Displays requirement analysis results and insights through interactive charts. </a:t>
            </a:r>
          </a:p>
          <a:p>
            <a:pPr marL="342900" lvl="0" indent="-342900">
              <a:lnSpc>
                <a:spcPct val="150000"/>
              </a:lnSpc>
              <a:buFont typeface="Arial" panose="020B0604020202020204" pitchFamily="34" charset="0"/>
              <a:buChar char="•"/>
            </a:pPr>
            <a:r>
              <a:rPr lang="en-US" sz="2000" b="1" dirty="0"/>
              <a:t>Git &amp; GitHub</a:t>
            </a:r>
            <a:r>
              <a:rPr lang="en-US" sz="2000" dirty="0"/>
              <a:t> – Used for version control, collaboration, and maintaining the project source code. </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919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895FB-B250-43E9-B2F3-E7C542ADE1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99A2981-F585-45CB-8B33-3B288F840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951A441E-BA35-A63A-C100-E9F977DC5226}"/>
              </a:ext>
            </a:extLst>
          </p:cNvPr>
          <p:cNvSpPr txBox="1"/>
          <p:nvPr/>
        </p:nvSpPr>
        <p:spPr>
          <a:xfrm>
            <a:off x="2959510" y="629265"/>
            <a:ext cx="6282813"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Workflow</a:t>
            </a:r>
          </a:p>
        </p:txBody>
      </p:sp>
      <p:pic>
        <p:nvPicPr>
          <p:cNvPr id="4" name="Picture 3">
            <a:extLst>
              <a:ext uri="{FF2B5EF4-FFF2-40B4-BE49-F238E27FC236}">
                <a16:creationId xmlns:a16="http://schemas.microsoft.com/office/drawing/2014/main" id="{C29F11D3-8FD8-FE82-58C6-10B47DDCA555}"/>
              </a:ext>
            </a:extLst>
          </p:cNvPr>
          <p:cNvPicPr>
            <a:picLocks noChangeAspect="1"/>
          </p:cNvPicPr>
          <p:nvPr/>
        </p:nvPicPr>
        <p:blipFill>
          <a:blip r:embed="rId3"/>
          <a:stretch>
            <a:fillRect/>
          </a:stretch>
        </p:blipFill>
        <p:spPr>
          <a:xfrm>
            <a:off x="3352801" y="1393720"/>
            <a:ext cx="6105831" cy="5007045"/>
          </a:xfrm>
          <a:prstGeom prst="rect">
            <a:avLst/>
          </a:prstGeom>
        </p:spPr>
      </p:pic>
    </p:spTree>
    <p:extLst>
      <p:ext uri="{BB962C8B-B14F-4D97-AF65-F5344CB8AC3E}">
        <p14:creationId xmlns:p14="http://schemas.microsoft.com/office/powerpoint/2010/main" val="864607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39D20-1DF1-C8D9-BEAF-804F5538CA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E7A829D-F818-52FB-28B1-0855BE21D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A64A99B8-E87F-2DAB-8846-B000FDA0F26B}"/>
              </a:ext>
            </a:extLst>
          </p:cNvPr>
          <p:cNvSpPr txBox="1"/>
          <p:nvPr/>
        </p:nvSpPr>
        <p:spPr>
          <a:xfrm>
            <a:off x="2959510" y="629265"/>
            <a:ext cx="6282813"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Modules</a:t>
            </a:r>
          </a:p>
        </p:txBody>
      </p:sp>
      <p:sp>
        <p:nvSpPr>
          <p:cNvPr id="9" name="TextBox 8">
            <a:extLst>
              <a:ext uri="{FF2B5EF4-FFF2-40B4-BE49-F238E27FC236}">
                <a16:creationId xmlns:a16="http://schemas.microsoft.com/office/drawing/2014/main" id="{DD26F58C-5187-FB73-AF4B-33673BA39191}"/>
              </a:ext>
            </a:extLst>
          </p:cNvPr>
          <p:cNvSpPr txBox="1"/>
          <p:nvPr/>
        </p:nvSpPr>
        <p:spPr>
          <a:xfrm>
            <a:off x="914400" y="1730477"/>
            <a:ext cx="10658168" cy="3600986"/>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Requirement Input Module </a:t>
            </a:r>
          </a:p>
          <a:p>
            <a:pPr marL="342900" lvl="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SRS Document Processing Module </a:t>
            </a:r>
          </a:p>
          <a:p>
            <a:pPr marL="342900" lvl="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 Requirement Analysis Module </a:t>
            </a:r>
          </a:p>
          <a:p>
            <a:pPr marL="342900" lvl="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Requirement Validation Module </a:t>
            </a:r>
          </a:p>
          <a:p>
            <a:pPr marL="342900" lvl="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Risk &amp; Quality Assessment Module </a:t>
            </a:r>
          </a:p>
          <a:p>
            <a:pPr marL="342900" lvl="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 Story &amp; Acceptance Criteria Generation Module </a:t>
            </a:r>
          </a:p>
          <a:p>
            <a:pPr marL="342900" lvl="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Dashboard &amp; Report Module</a:t>
            </a:r>
          </a:p>
          <a:p>
            <a:endParaRPr lang="en-US" dirty="0"/>
          </a:p>
        </p:txBody>
      </p:sp>
    </p:spTree>
    <p:extLst>
      <p:ext uri="{BB962C8B-B14F-4D97-AF65-F5344CB8AC3E}">
        <p14:creationId xmlns:p14="http://schemas.microsoft.com/office/powerpoint/2010/main" val="3478584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CF50-F436-46F6-46FA-7221A7A9AC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8C6114-3E8D-BE9C-075F-5BB534C40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15D5B8E3-7B8F-C225-7818-BB4FB3704651}"/>
              </a:ext>
            </a:extLst>
          </p:cNvPr>
          <p:cNvSpPr txBox="1"/>
          <p:nvPr/>
        </p:nvSpPr>
        <p:spPr>
          <a:xfrm>
            <a:off x="2959510" y="629265"/>
            <a:ext cx="6282813"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Conclusion &amp; Future Scope</a:t>
            </a:r>
          </a:p>
        </p:txBody>
      </p:sp>
      <p:sp>
        <p:nvSpPr>
          <p:cNvPr id="6" name="TextBox 5">
            <a:extLst>
              <a:ext uri="{FF2B5EF4-FFF2-40B4-BE49-F238E27FC236}">
                <a16:creationId xmlns:a16="http://schemas.microsoft.com/office/drawing/2014/main" id="{48E7138E-EB5C-DB2C-5AA0-064E7D155E79}"/>
              </a:ext>
            </a:extLst>
          </p:cNvPr>
          <p:cNvSpPr txBox="1"/>
          <p:nvPr/>
        </p:nvSpPr>
        <p:spPr>
          <a:xfrm>
            <a:off x="845574" y="1364201"/>
            <a:ext cx="10579510" cy="5478423"/>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SpecMind AI provides an AI-assisted approach to software requirements analysis by identifying requirement issues and providing intelligent improvement suggestions. The current implementation establishes the foundation for automated requirement validation and analysis.</a:t>
            </a:r>
          </a:p>
          <a:p>
            <a:pPr algn="just">
              <a:lnSpc>
                <a:spcPct val="150000"/>
              </a:lnSpc>
            </a:pPr>
            <a:r>
              <a:rPr lang="en-US" sz="2000" b="1" dirty="0">
                <a:latin typeface="Times New Roman" panose="02020603050405020304" pitchFamily="18" charset="0"/>
                <a:cs typeface="Times New Roman" panose="02020603050405020304" pitchFamily="18" charset="0"/>
              </a:rPr>
              <a:t>Future Scope</a:t>
            </a:r>
            <a:endParaRPr lang="en-US" sz="2000" dirty="0">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Automated requirement traceability.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AI-based test case generation.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Advanced requirement risk prediction.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Jira/GitHub project integration.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 SRS generation.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UML diagram generation from requirements. </a:t>
            </a:r>
          </a:p>
          <a:p>
            <a:pPr marL="285750" lvl="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Multi-language requirement analysis.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016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9B6FC-0EA7-379B-7B83-6433D537999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21412C-1419-F541-03F5-5838F7F62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2" name="TextBox 1">
            <a:extLst>
              <a:ext uri="{FF2B5EF4-FFF2-40B4-BE49-F238E27FC236}">
                <a16:creationId xmlns:a16="http://schemas.microsoft.com/office/drawing/2014/main" id="{43433C88-E314-817E-CE6A-B34EC3A8EA43}"/>
              </a:ext>
            </a:extLst>
          </p:cNvPr>
          <p:cNvSpPr txBox="1"/>
          <p:nvPr/>
        </p:nvSpPr>
        <p:spPr>
          <a:xfrm>
            <a:off x="1981200" y="2778967"/>
            <a:ext cx="8229600" cy="923330"/>
          </a:xfrm>
          <a:prstGeom prst="rect">
            <a:avLst/>
          </a:prstGeom>
          <a:noFill/>
        </p:spPr>
        <p:txBody>
          <a:bodyPr wrap="square" rtlCol="0">
            <a:spAutoFit/>
          </a:bodyPr>
          <a:lstStyle/>
          <a:p>
            <a:pPr algn="ctr"/>
            <a:r>
              <a:rPr lang="en-US" sz="5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410413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626</Words>
  <Application>Microsoft Office PowerPoint</Application>
  <PresentationFormat>Widescreen</PresentationFormat>
  <Paragraphs>74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Priya Kodali</dc:creator>
  <cp:lastModifiedBy>Vishnu Priya Kodali</cp:lastModifiedBy>
  <cp:revision>5</cp:revision>
  <dcterms:created xsi:type="dcterms:W3CDTF">2026-08-26T06:16:23Z</dcterms:created>
  <dcterms:modified xsi:type="dcterms:W3CDTF">2026-09-10T04:40:34Z</dcterms:modified>
</cp:coreProperties>
</file>